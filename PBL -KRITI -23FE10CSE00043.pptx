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8" r:id="rId7"/>
    <p:sldId id="260" r:id="rId8"/>
    <p:sldId id="262" r:id="rId9"/>
    <p:sldId id="261" r:id="rId10"/>
    <p:sldId id="269" r:id="rId11"/>
    <p:sldId id="266" r:id="rId12"/>
    <p:sldId id="270" r:id="rId13"/>
    <p:sldId id="263" r:id="rId14"/>
    <p:sldId id="2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42BF00-4251-49F4-9045-18A9ACA5E86E}" v="37" dt="2025-10-15T06:46:33.406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123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369E-1D01-4E18-A41B-972E528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CB01-ADDD-13C8-7D78-4FD47D1E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38D-EA18-361E-D59E-15337726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FD9-74C2-C9B0-1BDC-57B92DCB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4D17-63FA-E32E-A58E-4664594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08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9A7-DC78-3CB3-7F00-929E421E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4783-8B8F-B836-F68D-81BDF16A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82BE-60AE-D797-7868-81B8EF46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90722-9270-7EDB-981C-B923AA08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6731-DBE6-4F74-E2CF-7659DBC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8AFF-E64A-AF8D-BBC2-E5AB94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CB9A4-3B4F-7FE6-9B28-F5EF72B2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3C0-5E6E-B28A-6C22-06D9AC47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FA3B-4073-0F86-8AC8-81E0E4C3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5269F-612E-B784-B48A-95AA0791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166B-106E-C76B-9CE8-1B9A4AE5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3AF0E-E8F2-1B19-B65C-0E1CC0813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FFB13-732B-DEF8-DBEC-5F73E239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3C03-C9D7-F051-B57E-8DA06873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D1B14-3A56-41BB-4E4A-4735998A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54A9C-028F-0B55-463A-1087581A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0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66EC-9430-6B3D-E0CE-0A71B38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26AD1-F80A-C09B-B640-E65D99E68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293B4-0027-A04C-BA3E-441C93A1D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E42C3-BCA9-FB95-D8DC-7F3044ADD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8EFB4-7BB2-F8E3-21FC-7E4A10DFD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1C773-744A-FCD3-C078-3DC992C3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26583-570F-F397-D583-9963BD0D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8FC52-BDE3-9E21-7004-9001CC62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17DB-BC11-A965-7D47-A8306272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59EBB-66AC-0A22-FB25-AA24D188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C889-A42D-7ECD-6189-48F6199C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D6C85-1A5C-85A2-D47F-73050C49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73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6DA96-DA53-0AED-0F58-E803782E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08AC-42F9-A3E6-20C6-19B6AFB0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9749-EC75-7164-FBE8-61C5FD95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23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E5F6-B24D-5E61-DC38-DA3F87B3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E6B7-31E9-4177-5C1F-03A7DBD3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10E19-657E-B541-E036-959BA4187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2AEC1-909F-60C3-702B-6244A8A7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E6BA-2E7B-3E57-2F0C-5F2FD171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1D75-64B2-1389-FADB-ED9520B8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62D-CF25-FD3A-5B0C-AFA7F0A7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1E524-18D7-464E-3F34-14CBF4862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2348-99C4-F005-5D92-24A299F99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898F6-D595-1FDE-2158-79E6686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67F9F-625D-1107-9BCE-138B2981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0215-9ED1-CB53-652D-46D93AD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3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E86-64B7-9F0A-5001-6F43A0FA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7D706-8AAA-2524-04BB-26C462420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E778-061C-459E-CD0C-58DCA0CF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E4EF-7849-CFF9-1385-7BDB42DF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96F9-D0E3-05A9-C32F-CCFCFCE6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4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04E30-06E1-5212-4B6D-25886B9C3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C275C-3D2D-2452-9149-89BBE7CA6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31ED-A5B2-3FF2-8E5C-283664AB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8846-9586-A23A-3D98-740B85ED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7319-B31F-9567-7E64-8BEAB1A3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6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79A75-0843-3E26-FA3D-7955B436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1EE1-247A-E887-762B-4BC2DBFD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F53D-E00E-7D7F-402F-506A960A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DC96-5252-D529-FF28-16B0D99D0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C6E2-66C6-AF10-CC28-03DE3A9BB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elonis.com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22945"/>
            <a:ext cx="9144000" cy="1541720"/>
          </a:xfrm>
        </p:spPr>
        <p:txBody>
          <a:bodyPr>
            <a:normAutofit fontScale="90000"/>
          </a:bodyPr>
          <a:lstStyle/>
          <a:p>
            <a:r>
              <a:rPr lang="en-US" dirty="0"/>
              <a:t>Generalized Process Mining Pipeline using Flask and PM4Py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11" y="4890977"/>
            <a:ext cx="3239387" cy="1222744"/>
          </a:xfrm>
        </p:spPr>
        <p:txBody>
          <a:bodyPr/>
          <a:lstStyle/>
          <a:p>
            <a:r>
              <a:rPr lang="en-IN" dirty="0"/>
              <a:t>Submitted By:</a:t>
            </a:r>
            <a:br>
              <a:rPr lang="en-IN" dirty="0"/>
            </a:br>
            <a:r>
              <a:rPr lang="en-IN" dirty="0"/>
              <a:t>Kriti Rastogi</a:t>
            </a:r>
          </a:p>
          <a:p>
            <a:r>
              <a:rPr lang="en-IN" dirty="0"/>
              <a:t>23FE10CSE00043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875203" y="4883885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Supervised By:</a:t>
            </a:r>
            <a:br>
              <a:rPr lang="en-IN" dirty="0"/>
            </a:br>
            <a:r>
              <a:rPr lang="en-IN" dirty="0"/>
              <a:t>Dr. Neha Chaudhary</a:t>
            </a:r>
          </a:p>
          <a:p>
            <a:endParaRPr lang="en-IN" dirty="0"/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7542" y="1258784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/>
              <a:t>Outline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A8CF-2937-6FE2-6F8A-377D2DF1D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200"/>
              <a:t>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200"/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200"/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200"/>
              <a:t>Proposed Solution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200"/>
              <a:t>Objectives</a:t>
            </a:r>
          </a:p>
          <a:p>
            <a:pPr>
              <a:buFont typeface="Wingdings" panose="05000000000000000000" pitchFamily="2" charset="2"/>
              <a:buChar char="v"/>
            </a:pPr>
            <a:endParaRPr lang="en-IN" sz="2200"/>
          </a:p>
        </p:txBody>
      </p:sp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25A96B-B72E-0C72-F61B-C99183D10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/>
              <a:t>Introduction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1CBD1-1236-BD10-F9B4-E2675BA38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200">
                <a:latin typeface="Arial" panose="020B0604020202020204" pitchFamily="34" charset="0"/>
              </a:rPr>
              <a:t>Process mining bridges </a:t>
            </a:r>
            <a:r>
              <a:rPr lang="en-US" altLang="en-US" sz="2200" b="1">
                <a:latin typeface="Arial" panose="020B0604020202020204" pitchFamily="34" charset="0"/>
              </a:rPr>
              <a:t>data science</a:t>
            </a:r>
            <a:r>
              <a:rPr lang="en-US" altLang="en-US" sz="2200">
                <a:latin typeface="Arial" panose="020B0604020202020204" pitchFamily="34" charset="0"/>
              </a:rPr>
              <a:t> and </a:t>
            </a:r>
            <a:r>
              <a:rPr lang="en-US" altLang="en-US" sz="2200" b="1">
                <a:latin typeface="Arial" panose="020B0604020202020204" pitchFamily="34" charset="0"/>
              </a:rPr>
              <a:t>business process management (BPM)</a:t>
            </a:r>
            <a:r>
              <a:rPr lang="en-US" altLang="en-US" sz="2200"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>
                <a:latin typeface="Arial" panose="020B0604020202020204" pitchFamily="34" charset="0"/>
              </a:rPr>
              <a:t>It uses </a:t>
            </a:r>
            <a:r>
              <a:rPr lang="en-US" altLang="en-US" sz="2200" b="1">
                <a:latin typeface="Arial" panose="020B0604020202020204" pitchFamily="34" charset="0"/>
              </a:rPr>
              <a:t>event logs</a:t>
            </a:r>
            <a:r>
              <a:rPr lang="en-US" altLang="en-US" sz="2200">
                <a:latin typeface="Arial" panose="020B0604020202020204" pitchFamily="34" charset="0"/>
              </a:rPr>
              <a:t> to discover, analyze, and optimize real processes.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>
                <a:latin typeface="Arial" panose="020B0604020202020204" pitchFamily="34" charset="0"/>
              </a:rPr>
              <a:t>Provides </a:t>
            </a:r>
            <a:r>
              <a:rPr lang="en-US" altLang="en-US" sz="2200" b="1">
                <a:latin typeface="Arial" panose="020B0604020202020204" pitchFamily="34" charset="0"/>
              </a:rPr>
              <a:t>objective, data-driven insights</a:t>
            </a:r>
            <a:r>
              <a:rPr lang="en-US" altLang="en-US" sz="2200">
                <a:latin typeface="Arial" panose="020B0604020202020204" pitchFamily="34" charset="0"/>
              </a:rPr>
              <a:t> into workflow performance.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>
                <a:latin typeface="Arial" panose="020B0604020202020204" pitchFamily="34" charset="0"/>
              </a:rPr>
              <a:t>Key goals: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>
                <a:latin typeface="Arial" panose="020B0604020202020204" pitchFamily="34" charset="0"/>
              </a:rPr>
              <a:t>Identify </a:t>
            </a:r>
            <a:r>
              <a:rPr lang="en-US" altLang="en-US" sz="2200" b="1">
                <a:latin typeface="Arial" panose="020B0604020202020204" pitchFamily="34" charset="0"/>
              </a:rPr>
              <a:t>bottlenecks</a:t>
            </a:r>
            <a:r>
              <a:rPr lang="en-US" altLang="en-US" sz="2200">
                <a:latin typeface="Arial" panose="020B0604020202020204" pitchFamily="34" charset="0"/>
              </a:rPr>
              <a:t> and inefficiencies.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>
                <a:latin typeface="Arial" panose="020B0604020202020204" pitchFamily="34" charset="0"/>
              </a:rPr>
              <a:t>Detect </a:t>
            </a:r>
            <a:r>
              <a:rPr lang="en-US" altLang="en-US" sz="2200" b="1">
                <a:latin typeface="Arial" panose="020B0604020202020204" pitchFamily="34" charset="0"/>
              </a:rPr>
              <a:t>deviations</a:t>
            </a:r>
            <a:r>
              <a:rPr lang="en-US" altLang="en-US" sz="2200">
                <a:latin typeface="Arial" panose="020B0604020202020204" pitchFamily="34" charset="0"/>
              </a:rPr>
              <a:t> from standard processes.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>
                <a:latin typeface="Arial" panose="020B0604020202020204" pitchFamily="34" charset="0"/>
              </a:rPr>
              <a:t>Enable </a:t>
            </a:r>
            <a:r>
              <a:rPr lang="en-US" altLang="en-US" sz="2200" b="1">
                <a:latin typeface="Arial" panose="020B0604020202020204" pitchFamily="34" charset="0"/>
              </a:rPr>
              <a:t>process improvement</a:t>
            </a:r>
            <a:r>
              <a:rPr lang="en-US" altLang="en-US" sz="2200">
                <a:latin typeface="Arial" panose="020B0604020202020204" pitchFamily="34" charset="0"/>
              </a:rPr>
              <a:t> and </a:t>
            </a:r>
            <a:r>
              <a:rPr lang="en-US" altLang="en-US" sz="2200" b="1">
                <a:latin typeface="Arial" panose="020B0604020202020204" pitchFamily="34" charset="0"/>
              </a:rPr>
              <a:t>automation</a:t>
            </a:r>
            <a:r>
              <a:rPr lang="en-US" altLang="en-US" sz="2200">
                <a:latin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IN" sz="2200"/>
          </a:p>
        </p:txBody>
      </p:sp>
    </p:spTree>
    <p:extLst>
      <p:ext uri="{BB962C8B-B14F-4D97-AF65-F5344CB8AC3E}">
        <p14:creationId xmlns:p14="http://schemas.microsoft.com/office/powerpoint/2010/main" val="287897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85647D-9B85-4135-FDC8-4412998CA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/>
              <a:t>Literature Review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5F665-7E3B-0A75-0EE5-8FA0D35D2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IN" sz="2200" b="1"/>
              <a:t>Types of Process Mining Techniques</a:t>
            </a:r>
            <a:endParaRPr lang="en-IN" sz="2200"/>
          </a:p>
          <a:p>
            <a:r>
              <a:rPr lang="en-IN" sz="2200" b="1"/>
              <a:t>Process Discovery</a:t>
            </a:r>
            <a:r>
              <a:rPr lang="en-IN" sz="2200"/>
              <a:t> – automatically derives models (e.g., Petri nets, DFGs) from event data.</a:t>
            </a:r>
          </a:p>
          <a:p>
            <a:r>
              <a:rPr lang="en-IN" sz="2200" b="1"/>
              <a:t>Conformance Checking</a:t>
            </a:r>
            <a:r>
              <a:rPr lang="en-IN" sz="2200"/>
              <a:t> – compares actual execution with designed models.</a:t>
            </a:r>
          </a:p>
          <a:p>
            <a:r>
              <a:rPr lang="en-IN" sz="2200" b="1"/>
              <a:t>Performance Analysis</a:t>
            </a:r>
            <a:r>
              <a:rPr lang="en-IN" sz="2200"/>
              <a:t> – identifies bottlenecks, delays, and inefficiencies.</a:t>
            </a:r>
          </a:p>
          <a:p>
            <a:r>
              <a:rPr lang="en-IN" sz="2200" b="1"/>
              <a:t>Key Tools and Frameworks</a:t>
            </a:r>
            <a:endParaRPr lang="en-IN" sz="2200"/>
          </a:p>
          <a:p>
            <a:r>
              <a:rPr lang="en-IN" sz="2200" b="1"/>
              <a:t>PM4Py (Process Mining for Python)</a:t>
            </a:r>
            <a:r>
              <a:rPr lang="en-IN" sz="2200"/>
              <a:t> – open-source, research-grade process mining toolkit.</a:t>
            </a:r>
          </a:p>
          <a:p>
            <a:r>
              <a:rPr lang="en-IN" sz="2200" b="1"/>
              <a:t>ProM</a:t>
            </a:r>
            <a:r>
              <a:rPr lang="en-IN" sz="2200"/>
              <a:t> – Java-based academic tool for process mining and conformance checking.</a:t>
            </a:r>
          </a:p>
          <a:p>
            <a:r>
              <a:rPr lang="en-IN" sz="2200" b="1"/>
              <a:t>Celonis</a:t>
            </a:r>
            <a:r>
              <a:rPr lang="en-IN" sz="2200"/>
              <a:t> – commercial process mining software used in enterprises.</a:t>
            </a:r>
          </a:p>
          <a:p>
            <a:pPr marL="0" indent="0">
              <a:buNone/>
            </a:pPr>
            <a:endParaRPr lang="en-IN" sz="2200"/>
          </a:p>
        </p:txBody>
      </p:sp>
    </p:spTree>
    <p:extLst>
      <p:ext uri="{BB962C8B-B14F-4D97-AF65-F5344CB8AC3E}">
        <p14:creationId xmlns:p14="http://schemas.microsoft.com/office/powerpoint/2010/main" val="310308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15399-9171-C9F5-05B9-8CF3A21A0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333" y="186267"/>
            <a:ext cx="10515600" cy="1325563"/>
          </a:xfrm>
        </p:spPr>
        <p:txBody>
          <a:bodyPr/>
          <a:lstStyle/>
          <a:p>
            <a:r>
              <a:rPr lang="en-US" dirty="0"/>
              <a:t>Prior Research and Related Work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4BB52-4484-3C0D-4048-28E599408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867" y="1511830"/>
            <a:ext cx="11548533" cy="515990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1. Wil van der Aalst (2016)</a:t>
            </a:r>
            <a:r>
              <a:rPr lang="en-US" dirty="0"/>
              <a:t> – </a:t>
            </a:r>
            <a:r>
              <a:rPr lang="en-US" i="1" dirty="0"/>
              <a:t>Process Mining: Data Science in Action</a:t>
            </a:r>
            <a:endParaRPr lang="en-US" dirty="0"/>
          </a:p>
          <a:p>
            <a:r>
              <a:rPr lang="en-US" dirty="0"/>
              <a:t>Established the foundations of process discovery, conformance, and enhancement.</a:t>
            </a:r>
          </a:p>
          <a:p>
            <a:r>
              <a:rPr lang="en-US" dirty="0"/>
              <a:t>Demonstrated process mining as a bridge between event data and process optimization.</a:t>
            </a:r>
          </a:p>
          <a:p>
            <a:pPr marL="0" indent="0">
              <a:buNone/>
            </a:pPr>
            <a:r>
              <a:rPr lang="en-US" b="1" dirty="0"/>
              <a:t>. </a:t>
            </a:r>
            <a:r>
              <a:rPr lang="en-US" b="1" dirty="0" err="1"/>
              <a:t>Mannhardt</a:t>
            </a:r>
            <a:r>
              <a:rPr lang="en-US" b="1" dirty="0"/>
              <a:t> et al. (2017)</a:t>
            </a:r>
            <a:r>
              <a:rPr lang="en-US" dirty="0"/>
              <a:t> – </a:t>
            </a:r>
            <a:r>
              <a:rPr lang="en-US" i="1" dirty="0"/>
              <a:t>Performance Analysis in Healthcare Processes</a:t>
            </a:r>
            <a:endParaRPr lang="en-US" dirty="0"/>
          </a:p>
          <a:p>
            <a:r>
              <a:rPr lang="en-US" dirty="0"/>
              <a:t>Applied process mining for bottleneck detection and cycle time reduction.</a:t>
            </a:r>
          </a:p>
          <a:p>
            <a:r>
              <a:rPr lang="en-US" dirty="0"/>
              <a:t>Highlighted real-world applicability in time-critical workflows.</a:t>
            </a:r>
          </a:p>
          <a:p>
            <a:pPr marL="0" indent="0">
              <a:buNone/>
            </a:pPr>
            <a:r>
              <a:rPr lang="en-US" b="1" dirty="0"/>
              <a:t>3.Deloitte Global Process Mining Survey 2025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Insights on how companies are adopting process mining, major obstacles (e.g. data quality, management buy-in), and emerging role of </a:t>
            </a:r>
            <a:r>
              <a:rPr lang="en-US" b="1" dirty="0"/>
              <a:t>AI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1436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693DA-A3F2-92BF-B27C-FAA61BBCC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Gap and Research 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BC131-75FF-E9B9-A10D-312A1474D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399" y="1540933"/>
            <a:ext cx="11396133" cy="51816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Identified Gaps in Existing Studies</a:t>
            </a:r>
          </a:p>
          <a:p>
            <a:r>
              <a:rPr lang="en-US" dirty="0"/>
              <a:t>Most process mining implementations are </a:t>
            </a:r>
            <a:r>
              <a:rPr lang="en-US" b="1" dirty="0"/>
              <a:t>domain-specific</a:t>
            </a:r>
            <a:r>
              <a:rPr lang="en-US" dirty="0"/>
              <a:t> (e.g., healthcare, finance).</a:t>
            </a:r>
          </a:p>
          <a:p>
            <a:r>
              <a:rPr lang="en-US" dirty="0"/>
              <a:t>Limited integration between </a:t>
            </a:r>
            <a:r>
              <a:rPr lang="en-US" b="1" dirty="0"/>
              <a:t>process mining, simulation, and machine learning</a:t>
            </a:r>
            <a:r>
              <a:rPr lang="en-US" dirty="0"/>
              <a:t>.</a:t>
            </a:r>
          </a:p>
          <a:p>
            <a:r>
              <a:rPr lang="en-US" dirty="0"/>
              <a:t>Existing systems lack a </a:t>
            </a:r>
            <a:r>
              <a:rPr lang="en-US" b="1" dirty="0"/>
              <a:t>generalized, user-friendly web interface</a:t>
            </a:r>
            <a:r>
              <a:rPr lang="en-US" dirty="0"/>
              <a:t> for real-time analysis.</a:t>
            </a:r>
          </a:p>
          <a:p>
            <a:r>
              <a:rPr lang="en-US" b="1" dirty="0"/>
              <a:t>This Project’s Contribution</a:t>
            </a:r>
            <a:br>
              <a:rPr lang="en-US" dirty="0"/>
            </a:br>
            <a:r>
              <a:rPr lang="en-US" dirty="0"/>
              <a:t>Develops a </a:t>
            </a:r>
            <a:r>
              <a:rPr lang="en-US" b="1" dirty="0"/>
              <a:t>generalized, end-to-end process mining pipeline</a:t>
            </a:r>
            <a:r>
              <a:rPr lang="en-US" dirty="0"/>
              <a:t> using </a:t>
            </a:r>
            <a:r>
              <a:rPr lang="en-US" b="1" dirty="0"/>
              <a:t>PM4Py + Flask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 Integrates </a:t>
            </a:r>
            <a:r>
              <a:rPr lang="en-US" b="1" dirty="0"/>
              <a:t>bottleneck detection, optimization, and ML-based prediction</a:t>
            </a:r>
            <a:r>
              <a:rPr lang="en-US" dirty="0"/>
              <a:t> (duration &amp; outcome).</a:t>
            </a:r>
            <a:br>
              <a:rPr lang="en-US" dirty="0"/>
            </a:br>
            <a:r>
              <a:rPr lang="en-US" dirty="0"/>
              <a:t>Provides </a:t>
            </a:r>
            <a:r>
              <a:rPr lang="en-US" b="1" dirty="0"/>
              <a:t>interactive visualization</a:t>
            </a:r>
            <a:r>
              <a:rPr lang="en-US" dirty="0"/>
              <a:t> through DFGs and Petri nets for any uploaded event log.</a:t>
            </a:r>
            <a:br>
              <a:rPr lang="en-US" dirty="0"/>
            </a:br>
            <a:r>
              <a:rPr lang="en-US" dirty="0"/>
              <a:t> Enables </a:t>
            </a:r>
            <a:r>
              <a:rPr lang="en-US" b="1" dirty="0"/>
              <a:t>process simulation and improvement</a:t>
            </a:r>
            <a:r>
              <a:rPr lang="en-US" dirty="0"/>
              <a:t>, bridging analysis and automation.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1496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4CC5-00AF-876C-F7CA-146754384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Most organizations lack an automated, data-driven system to analyze and optimize business processes. Existing tools are domain-specific and fail to integrate discovery, performance analysis, and predictive insights into one unified framework.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74707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/>
              <a:t>Objectives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E25AA-71BA-D0F6-3993-32491BD06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/>
              <a:t>Build a </a:t>
            </a:r>
            <a:r>
              <a:rPr lang="en-US" sz="2200" b="1"/>
              <a:t>generalized process mining pipeline</a:t>
            </a:r>
            <a:r>
              <a:rPr lang="en-US" sz="2200"/>
              <a:t> that can:</a:t>
            </a:r>
          </a:p>
          <a:p>
            <a:r>
              <a:rPr lang="en-US" sz="2200"/>
              <a:t>Accept any structured event log (case ID, activity, timestamp)</a:t>
            </a:r>
          </a:p>
          <a:p>
            <a:r>
              <a:rPr lang="en-US" sz="2200"/>
              <a:t>Discover real process flows automatically</a:t>
            </a:r>
          </a:p>
          <a:p>
            <a:r>
              <a:rPr lang="en-US" sz="2200"/>
              <a:t>Identify performance issues (bottlenecks)</a:t>
            </a:r>
          </a:p>
          <a:p>
            <a:r>
              <a:rPr lang="en-US" sz="2200"/>
              <a:t>Optimize and simulate faster execution</a:t>
            </a:r>
          </a:p>
          <a:p>
            <a:r>
              <a:rPr lang="en-US" sz="2200"/>
              <a:t>Predict case outcomes and durations using ML</a:t>
            </a:r>
          </a:p>
          <a:p>
            <a:pPr marL="0" indent="0">
              <a:buNone/>
            </a:pPr>
            <a:endParaRPr lang="en-IN" sz="2200"/>
          </a:p>
        </p:txBody>
      </p:sp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/>
              <a:t>Proposed Methodology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D1628BC-61B4-6E34-10A6-8C67FFFA0F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Data Collection &amp; Preprocessing</a:t>
            </a:r>
            <a:endParaRPr kumimoji="0" lang="en-US" altLang="en-US" sz="15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Input event logs (CSV/Excel).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Standardize columns (Case ID, Activity, Timestamp).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Clean and format using PM4Py utilities.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lang="en-US" altLang="en-US" sz="150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5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Process Discovery</a:t>
            </a:r>
            <a:endParaRPr kumimoji="0" lang="en-US" altLang="en-US" sz="15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Apply </a:t>
            </a: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Alpha Miner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Heuristics Miner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to discover process models.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Generate </a:t>
            </a: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Petri Nets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Directly-Follows Graphs (DFGs)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for visualization.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en-US" altLang="en-US" sz="150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5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Conformance &amp; Performance Analysis</a:t>
            </a:r>
            <a:endParaRPr kumimoji="0" lang="en-US" altLang="en-US" sz="15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Evaluate how real processes align with discovered models.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Use performance DFGs to identify </a:t>
            </a: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bottlenecks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and delays.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BDFC015-3D95-046C-9031-5E3F228C87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799" y="1166842"/>
            <a:ext cx="1001606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 Optimization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Filter logically invalid cases.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Simulate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parallel execution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remove bottlenecks.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Append missing logical steps (e.g., “Close Claim” after rejection).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Prediction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predict: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Case outcomes (classification).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 duration (regression).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 &amp; Reporting (Flask App)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models, DFGs, and predictions interactively.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Export optimized event logs and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865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7C9FAE-C685-2942-D3D4-216A6AC1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4B33A6-B209-82E0-3AC4-ED0F2117C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IN" sz="5400"/>
              <a:t>Result </a:t>
            </a:r>
          </a:p>
        </p:txBody>
      </p:sp>
      <p:sp>
        <p:nvSpPr>
          <p:cNvPr id="7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D4913-00D1-0B0F-38B7-C226FBBC3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200" b="1" dirty="0"/>
              <a:t>Process Overview- Insurance Claim</a:t>
            </a:r>
          </a:p>
          <a:p>
            <a:pPr marL="0" indent="0">
              <a:buNone/>
            </a:pPr>
            <a:r>
              <a:rPr lang="en-US" sz="2200" b="1" dirty="0"/>
              <a:t>Cases:</a:t>
            </a:r>
            <a:r>
              <a:rPr lang="en-US" sz="2200" dirty="0"/>
              <a:t> 30,000 | </a:t>
            </a:r>
            <a:r>
              <a:rPr lang="en-US" sz="2200" b="1" dirty="0"/>
              <a:t>Events:</a:t>
            </a:r>
            <a:r>
              <a:rPr lang="en-US" sz="2200" dirty="0"/>
              <a:t> 180,000 | </a:t>
            </a:r>
            <a:r>
              <a:rPr lang="en-US" sz="2200" b="1" dirty="0"/>
              <a:t>Activities:</a:t>
            </a:r>
            <a:r>
              <a:rPr lang="en-US" sz="2200" dirty="0"/>
              <a:t> 6 | </a:t>
            </a:r>
            <a:r>
              <a:rPr lang="en-US" sz="2200" b="1" dirty="0"/>
              <a:t>Complexity:</a:t>
            </a:r>
            <a:r>
              <a:rPr lang="en-US" sz="2200" dirty="0"/>
              <a:t> Medium</a:t>
            </a:r>
          </a:p>
          <a:p>
            <a:r>
              <a:rPr lang="en-US" sz="2200" b="1" dirty="0"/>
              <a:t>Model Quality</a:t>
            </a:r>
          </a:p>
          <a:p>
            <a:r>
              <a:rPr lang="en-US" sz="2200" dirty="0"/>
              <a:t>Fitness: </a:t>
            </a:r>
            <a:r>
              <a:rPr lang="en-US" sz="2200" b="1" dirty="0"/>
              <a:t>1.00</a:t>
            </a:r>
            <a:r>
              <a:rPr lang="en-US" sz="2200" dirty="0"/>
              <a:t>, Precision: </a:t>
            </a:r>
            <a:r>
              <a:rPr lang="en-US" sz="2200" b="1" dirty="0"/>
              <a:t>1.00</a:t>
            </a:r>
            <a:r>
              <a:rPr lang="en-US" sz="2200" dirty="0"/>
              <a:t> </a:t>
            </a:r>
            <a:r>
              <a:rPr lang="en-US" sz="2200" i="1" dirty="0"/>
              <a:t>(perfect alignment with event log)</a:t>
            </a:r>
            <a:endParaRPr lang="en-US" sz="2200" dirty="0"/>
          </a:p>
          <a:p>
            <a:pPr marL="0" indent="0">
              <a:buNone/>
            </a:pPr>
            <a:r>
              <a:rPr lang="en-IN" sz="2200" baseline="-25000" dirty="0"/>
              <a:t>TOP BOTTLENECKS-&gt;</a:t>
            </a:r>
          </a:p>
          <a:p>
            <a:pPr marL="0" indent="0">
              <a:buNone/>
            </a:pPr>
            <a:endParaRPr lang="en-IN" sz="2200" baseline="-25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8D849A-6185-047E-6833-87D31B1370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434696"/>
              </p:ext>
            </p:extLst>
          </p:nvPr>
        </p:nvGraphicFramePr>
        <p:xfrm>
          <a:off x="6099048" y="1265782"/>
          <a:ext cx="5458969" cy="4326441"/>
        </p:xfrm>
        <a:graphic>
          <a:graphicData uri="http://schemas.openxmlformats.org/drawingml/2006/table">
            <a:tbl>
              <a:tblPr firstRow="1" bandRow="1"/>
              <a:tblGrid>
                <a:gridCol w="3883744">
                  <a:extLst>
                    <a:ext uri="{9D8B030D-6E8A-4147-A177-3AD203B41FA5}">
                      <a16:colId xmlns:a16="http://schemas.microsoft.com/office/drawing/2014/main" val="1628298813"/>
                    </a:ext>
                  </a:extLst>
                </a:gridCol>
                <a:gridCol w="1575225">
                  <a:extLst>
                    <a:ext uri="{9D8B030D-6E8A-4147-A177-3AD203B41FA5}">
                      <a16:colId xmlns:a16="http://schemas.microsoft.com/office/drawing/2014/main" val="1450184172"/>
                    </a:ext>
                  </a:extLst>
                </a:gridCol>
              </a:tblGrid>
              <a:tr h="904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Transition</a:t>
                      </a:r>
                    </a:p>
                  </a:txBody>
                  <a:tcPr marL="122216" marR="122216" marT="61108" marB="61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Duration (hrs)</a:t>
                      </a:r>
                    </a:p>
                  </a:txBody>
                  <a:tcPr marL="122216" marR="122216" marT="61108" marB="61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067732"/>
                  </a:ext>
                </a:extLst>
              </a:tr>
              <a:tr h="537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FNOL → Assign Claim</a:t>
                      </a:r>
                    </a:p>
                  </a:txBody>
                  <a:tcPr marL="122216" marR="122216" marT="61108" marB="61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360.25</a:t>
                      </a:r>
                    </a:p>
                  </a:txBody>
                  <a:tcPr marL="122216" marR="122216" marT="61108" marB="61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7513508"/>
                  </a:ext>
                </a:extLst>
              </a:tr>
              <a:tr h="537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FNOL → Claim Decision</a:t>
                      </a:r>
                    </a:p>
                  </a:txBody>
                  <a:tcPr marL="122216" marR="122216" marT="61108" marB="61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345.95</a:t>
                      </a:r>
                    </a:p>
                  </a:txBody>
                  <a:tcPr marL="122216" marR="122216" marT="61108" marB="61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0410456"/>
                  </a:ext>
                </a:extLst>
              </a:tr>
              <a:tr h="537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FNOL → Set Reserve</a:t>
                      </a:r>
                    </a:p>
                  </a:txBody>
                  <a:tcPr marL="122216" marR="122216" marT="61108" marB="61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354.78</a:t>
                      </a:r>
                    </a:p>
                  </a:txBody>
                  <a:tcPr marL="122216" marR="122216" marT="61108" marB="61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0317458"/>
                  </a:ext>
                </a:extLst>
              </a:tr>
              <a:tr h="904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Assign Claim → Payment Sent</a:t>
                      </a:r>
                    </a:p>
                  </a:txBody>
                  <a:tcPr marL="122216" marR="122216" marT="61108" marB="61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124.36</a:t>
                      </a:r>
                    </a:p>
                  </a:txBody>
                  <a:tcPr marL="122216" marR="122216" marT="61108" marB="61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610419"/>
                  </a:ext>
                </a:extLst>
              </a:tr>
              <a:tr h="904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Claim Decision → Close Claim</a:t>
                      </a:r>
                    </a:p>
                  </a:txBody>
                  <a:tcPr marL="122216" marR="122216" marT="61108" marB="61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91.75</a:t>
                      </a:r>
                    </a:p>
                  </a:txBody>
                  <a:tcPr marL="122216" marR="122216" marT="61108" marB="61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219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5671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F506A31-6A7B-2B75-7945-19C8A6348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5200"/>
            <a:ext cx="10515600" cy="52117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PROCESS FLOW</a:t>
            </a:r>
          </a:p>
          <a:p>
            <a:pPr marL="0" indent="0">
              <a:buNone/>
            </a:pPr>
            <a:r>
              <a:rPr lang="en-US" dirty="0"/>
              <a:t>FNOL → Assign Claim → Claim Decision → Set Reserve → Payment Sent → Close Claim</a:t>
            </a:r>
          </a:p>
          <a:p>
            <a:r>
              <a:rPr lang="en-US" b="1" dirty="0"/>
              <a:t>Key Insights</a:t>
            </a:r>
          </a:p>
          <a:p>
            <a:r>
              <a:rPr lang="en-US" dirty="0"/>
              <a:t>Bottlenecks mainly at start &amp; closure → delays in handoffs</a:t>
            </a:r>
          </a:p>
          <a:p>
            <a:r>
              <a:rPr lang="en-US" dirty="0"/>
              <a:t>Optimization (parallel execution) significantly reduces delays</a:t>
            </a:r>
          </a:p>
          <a:p>
            <a:r>
              <a:rPr lang="en-US" dirty="0"/>
              <a:t>ML predicts </a:t>
            </a:r>
            <a:r>
              <a:rPr lang="en-US" b="1" dirty="0"/>
              <a:t>case outcomes with 92% accuracy</a:t>
            </a:r>
            <a:endParaRPr lang="en-US" dirty="0"/>
          </a:p>
          <a:p>
            <a:r>
              <a:rPr lang="en-US" dirty="0"/>
              <a:t>Conformance &amp; precision remain perfect after optimization</a:t>
            </a:r>
          </a:p>
          <a:p>
            <a:pPr marL="0" indent="0">
              <a:buNone/>
            </a:pPr>
            <a:endParaRPr lang="en-IN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CC233615-B77F-469A-EA6D-44E2C849B0B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55099253"/>
                  </p:ext>
                </p:extLst>
              </p:nvPr>
            </p:nvGraphicFramePr>
            <p:xfrm>
              <a:off x="-4504267" y="1513417"/>
              <a:ext cx="3048000" cy="1714500"/>
            </p:xfrm>
            <a:graphic>
              <a:graphicData uri="http://schemas.microsoft.com/office/powerpoint/2016/slidezoom">
                <pslz:sldZm>
                  <pslz:sldZmObj sldId="266" cId="3645671189">
                    <pslz:zmPr id="{0F80AC37-64FB-4CC4-BDEB-9D5035A2C57D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Slide Zoom 6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CC233615-B77F-469A-EA6D-44E2C849B0B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4504267" y="1513417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6740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/>
              <a:t>References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9290C12-C6A1-67E8-5335-10051B972A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Van der Aalst, W. M. P. (2016).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Process Mining: Data Science in Action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(2nd ed.). Springer.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— Foundational book introducing process discovery, conformance, and enhancement.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Mannhardt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F., De Leoni, M.,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Reijers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H. A., Van der Aalst, W. M. P., &amp; Toussaint, P. J. (2017).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Guided process discovery in healthcare.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Information Systems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57, 147–165.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— Application of process mining for bottleneck and performance analysis.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sz="1400" dirty="0" err="1"/>
              <a:t>Celonis</a:t>
            </a:r>
            <a:r>
              <a:rPr lang="en-US" sz="1400" dirty="0"/>
              <a:t> (2023). </a:t>
            </a:r>
            <a:r>
              <a:rPr lang="en-US" sz="1400" i="1" dirty="0"/>
              <a:t>Process Mining and Execution Management Systems.</a:t>
            </a:r>
            <a:br>
              <a:rPr lang="en-US" sz="1400" dirty="0"/>
            </a:br>
            <a:r>
              <a:rPr lang="en-US" sz="1400" dirty="0"/>
              <a:t>Retrieved from </a:t>
            </a:r>
            <a:r>
              <a:rPr lang="en-US" sz="1400" dirty="0">
                <a:hlinkClick r:id="rId2"/>
              </a:rPr>
              <a:t>https://www.celonis.com</a:t>
            </a:r>
            <a:endParaRPr lang="en-US" sz="1400" dirty="0"/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br>
              <a:rPr lang="en-US" sz="1400" dirty="0"/>
            </a:br>
            <a:r>
              <a:rPr lang="en-US" sz="1400" dirty="0"/>
              <a:t>— Industry reference for enterprise-level process mining applications.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sz="1400" dirty="0"/>
          </a:p>
          <a:p>
            <a:r>
              <a:rPr lang="en-US" sz="1400" b="1" dirty="0"/>
              <a:t>Deloitte Global Process Mining Survey 2025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Insights on how companies are adopting process mining, major obstacles (e.g. data quality, management buy-in), and emerging role of </a:t>
            </a:r>
            <a:r>
              <a:rPr lang="en-US" sz="1400" b="1" dirty="0"/>
              <a:t>AI</a:t>
            </a:r>
            <a:r>
              <a:rPr lang="en-US" sz="1400" dirty="0"/>
              <a:t>.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sz="1400" dirty="0"/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638</TotalTime>
  <Words>940</Words>
  <Application>Microsoft Office PowerPoint</Application>
  <PresentationFormat>Widescreen</PresentationFormat>
  <Paragraphs>120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Wingdings</vt:lpstr>
      <vt:lpstr>Office Theme</vt:lpstr>
      <vt:lpstr>Generalized Process Mining Pipeline using Flask and PM4Py</vt:lpstr>
      <vt:lpstr>Outline</vt:lpstr>
      <vt:lpstr>Introduction</vt:lpstr>
      <vt:lpstr>Literature Review</vt:lpstr>
      <vt:lpstr>Prior Research and Related Work</vt:lpstr>
      <vt:lpstr>Gap and Research Contribution</vt:lpstr>
      <vt:lpstr>Problem Statement</vt:lpstr>
      <vt:lpstr>Objectives</vt:lpstr>
      <vt:lpstr>Proposed Methodology</vt:lpstr>
      <vt:lpstr>PowerPoint Presentation</vt:lpstr>
      <vt:lpstr>Result </vt:lpstr>
      <vt:lpstr>PowerPoint Presentation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[BTECH-005-2023-24] KRITI RASTOGI</cp:lastModifiedBy>
  <cp:revision>6</cp:revision>
  <dcterms:created xsi:type="dcterms:W3CDTF">2025-09-29T05:03:41Z</dcterms:created>
  <dcterms:modified xsi:type="dcterms:W3CDTF">2025-11-21T07:33:15Z</dcterms:modified>
</cp:coreProperties>
</file>